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0" y="-182880"/>
            <a:ext cx="4572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5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1A2E45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874520"/>
            <a:ext cx="25603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Business Intelligence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09728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05740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E-Commerce Sales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2834640"/>
            <a:ext cx="1920240" cy="384048"/>
          </a:xfrm>
          <a:prstGeom prst="rect">
            <a:avLst/>
          </a:prstGeom>
          <a:solidFill>
            <a:srgbClr val="1A2E45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8346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Python  •  Pandas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560320" y="2834640"/>
            <a:ext cx="1920240" cy="384048"/>
          </a:xfrm>
          <a:prstGeom prst="rect">
            <a:avLst/>
          </a:prstGeom>
          <a:solidFill>
            <a:srgbClr val="1A2E45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560320" y="28346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MySQL  •  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663440" y="2834640"/>
            <a:ext cx="1920240" cy="384048"/>
          </a:xfrm>
          <a:prstGeom prst="rect">
            <a:avLst/>
          </a:prstGeom>
          <a:solidFill>
            <a:srgbClr val="1A2E45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663440" y="28346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4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Prepared by  Karun Krishnan  |   Student Support – Business Intelligence Team Interview   |   Olist Brazilian E-Commerce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74320" y="475488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structured walkthrough of the complete BI workflow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74320" y="1417320"/>
            <a:ext cx="27889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74320" y="1417320"/>
            <a:ext cx="2788920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74320" y="141732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84048" y="180136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 Objective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84048" y="224028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the business wanted to understand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46120" y="1417320"/>
            <a:ext cx="27889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246120" y="1417320"/>
            <a:ext cx="2788920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246120" y="141732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355848" y="180136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 &amp; Data Cleaning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355848" y="224028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Python-based preparation of 5 CSV files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217920" y="1417320"/>
            <a:ext cx="27889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217920" y="1417320"/>
            <a:ext cx="2788920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217920" y="141732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327648" y="180136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SQL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327648" y="224028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Four targeted business questions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74320" y="2971800"/>
            <a:ext cx="27889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74320" y="2971800"/>
            <a:ext cx="2788920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74320" y="297180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84048" y="335584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Power BI Dashboard 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4048" y="379476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visuals: required + optional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246120" y="2971800"/>
            <a:ext cx="27889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246120" y="2971800"/>
            <a:ext cx="2788920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246120" y="297180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355848" y="335584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355848" y="379476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Actionable business outcomes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217920" y="2971800"/>
            <a:ext cx="27889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217920" y="2971800"/>
            <a:ext cx="2788920" cy="32004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217920" y="297180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327648" y="335584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Conclusion &amp; Q&amp;A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BUSINESS OBJECTIVE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74320" y="475488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Does Management Want to Know?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E-commerce company needs clarity on sales, customers, and growth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274320" y="1371600"/>
            <a:ext cx="27889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002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914400" y="16002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Sales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208483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Where is revenue being generated?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246120" y="1371600"/>
            <a:ext cx="27889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6002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3886200" y="16002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 Behaviour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429000" y="208483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How and when do customers buy?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217920" y="1371600"/>
            <a:ext cx="27889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6002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6858000" y="16002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Seasonal Trends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400800" y="208483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When do demand spikes occur?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74320" y="3017520"/>
            <a:ext cx="27889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0" name="Google Shape;9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3246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914400" y="324612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Regional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200" y="373075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Which geographies lead  in sales?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246120" y="3017520"/>
            <a:ext cx="27889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3246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3886200" y="324612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Operational Anomalies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429000" y="373075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is causing revenue leakage?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217920" y="3017520"/>
            <a:ext cx="27889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0" y="3246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6858000" y="324612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 Categories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400800" y="373075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Which products drive the most value?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DATA FOUNDATION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74320" y="475488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Olist Brazilian E-Commerce — 5 interconnected CSV files from Kaggle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56032" y="1371600"/>
            <a:ext cx="493776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65760" y="146304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Source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65760" y="1920240"/>
            <a:ext cx="466344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02920" y="192024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olist_customers_dataset.csv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520440" y="192024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Customer records &amp; location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5760" y="2468880"/>
            <a:ext cx="466344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02920" y="246888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olist_orders_dataset.csv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520440" y="246888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 status &amp; timestamps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65760" y="3017520"/>
            <a:ext cx="466344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02920" y="301752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olist_order_items_dataset.csv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520440" y="301752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Line items — price &amp; freight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65760" y="3566160"/>
            <a:ext cx="466344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02920" y="356616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olist_products_dataset.csv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520440" y="356616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 catalog &amp; categories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65760" y="4114800"/>
            <a:ext cx="466344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02920" y="411480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product_category_name_translation.csv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520440" y="411480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 translation of PT categories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669280" y="1463040"/>
            <a:ext cx="1691640" cy="47548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669280" y="1463040"/>
            <a:ext cx="1691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669280" y="2423160"/>
            <a:ext cx="1691640" cy="475488"/>
          </a:xfrm>
          <a:prstGeom prst="rect">
            <a:avLst/>
          </a:prstGeom>
          <a:solidFill>
            <a:srgbClr val="1A2E4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669280" y="2423160"/>
            <a:ext cx="1691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669280" y="3337560"/>
            <a:ext cx="1691640" cy="475488"/>
          </a:xfrm>
          <a:prstGeom prst="rect">
            <a:avLst/>
          </a:prstGeom>
          <a:solidFill>
            <a:srgbClr val="1A2E4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669280" y="3337560"/>
            <a:ext cx="1691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 Items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680960" y="2423160"/>
            <a:ext cx="1691640" cy="475488"/>
          </a:xfrm>
          <a:prstGeom prst="rect">
            <a:avLst/>
          </a:prstGeom>
          <a:solidFill>
            <a:srgbClr val="1A2E4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680960" y="2423160"/>
            <a:ext cx="1691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6"/>
          <p:cNvCxnSpPr/>
          <p:nvPr/>
        </p:nvCxnSpPr>
        <p:spPr>
          <a:xfrm>
            <a:off x="6515100" y="1938528"/>
            <a:ext cx="0" cy="484632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6" name="Google Shape;136;p6"/>
          <p:cNvCxnSpPr/>
          <p:nvPr/>
        </p:nvCxnSpPr>
        <p:spPr>
          <a:xfrm>
            <a:off x="6515100" y="2898648"/>
            <a:ext cx="0" cy="438912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7" name="Google Shape;137;p6"/>
          <p:cNvCxnSpPr/>
          <p:nvPr/>
        </p:nvCxnSpPr>
        <p:spPr>
          <a:xfrm>
            <a:off x="7360920" y="2660904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8" name="Google Shape;138;p6"/>
          <p:cNvSpPr/>
          <p:nvPr/>
        </p:nvSpPr>
        <p:spPr>
          <a:xfrm>
            <a:off x="5532120" y="4069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Key Join Columns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532120" y="4370832"/>
            <a:ext cx="1600200" cy="2743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532120" y="437083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223760" y="4370832"/>
            <a:ext cx="1600200" cy="2743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223760" y="437083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order_id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532120" y="4718304"/>
            <a:ext cx="1600200" cy="2743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532120" y="471830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223760" y="4718304"/>
            <a:ext cx="1600200" cy="2743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223760" y="471830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category_name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DATA CLEANING &amp; PREPARATION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74320" y="475488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Python-Based Data Cleaning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decision documented; analysis-ready dataset exported for 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56032" y="1371600"/>
            <a:ext cx="41148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63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Data Quality Issues 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9385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731520" y="19202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Missing delivery timestamps in 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4414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731520" y="24231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Missing product weight / dimensions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443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731520" y="2926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Unmatched category name translations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4472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731520" y="34290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Duplicate merge columns after join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9502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731520" y="39319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Inconsistent date formats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572000" y="1371600"/>
            <a:ext cx="429768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1463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5120640" y="14630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Cleaning Steps Performed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19385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Loaded all 5 CSVs; profiled shape, nulls,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24140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5029200" y="23957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Converted datetime columns with pd.to_datetime()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28895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5029200" y="287121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Filled / dropped missing values — per column logic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33649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/>
          <p:nvPr/>
        </p:nvSpPr>
        <p:spPr>
          <a:xfrm>
            <a:off x="5029200" y="334670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Merged tables on customer_id, order_id, product_id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38404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5029200" y="38221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Dropped duplicate columns from merge artifacts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43159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Exported clean CSV for MySQL import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256032" y="4800600"/>
            <a:ext cx="8631936" cy="2560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Output: analysis_ready_dataset.csv  →  imported into MySQL for SQL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SQL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74320" y="475488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Four Business Questions Answered with SQL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Aggregation, joins, grouping, filtering, conditional logic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56032" y="1371600"/>
            <a:ext cx="8631936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56032" y="1371600"/>
            <a:ext cx="50292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56032" y="137160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14400" y="142646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Revenue &amp; Volume by 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14400" y="171907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 10 categories by total revenue and order count using GROUP BY + ORDER BY DESC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256032" y="2103120"/>
            <a:ext cx="8631936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56032" y="2103120"/>
            <a:ext cx="50292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56032" y="210312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914400" y="215798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Monthly Sales Trends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914400" y="245059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Revenue &amp; volume trend by month using DATE_FORMAT() to identify seasonal patterns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56032" y="2834640"/>
            <a:ext cx="8631936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256032" y="2834640"/>
            <a:ext cx="50292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256032" y="283464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14400" y="288950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 Distribution by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914400" y="318211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Revenue and orders per customer state with aggregation on geographic dimension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56032" y="3566160"/>
            <a:ext cx="8631936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56032" y="3566160"/>
            <a:ext cx="502920" cy="65836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256032" y="356616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914400" y="362102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Anomaly: Canceled 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914400" y="391363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Filtered on order_status = 'canceled' — quantified revenue leakage per category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256032" y="4297680"/>
            <a:ext cx="8631936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256032" y="4297680"/>
            <a:ext cx="502920" cy="658368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256032" y="429768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Q5*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914400" y="435254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Avg Revenue per Order (Bonus)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914400" y="464515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SUM(price) / COUNT(DISTINCT order_id) per category — uncovers high-value segments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ANALYSIS 1 — CATEGORY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274320" y="384038"/>
            <a:ext cx="8595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 10 Product Categories by Revenue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274345" y="946468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Health &amp; Beauty leads in revenue; Bed Bath Table leads in order volume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4" y="1280145"/>
            <a:ext cx="557784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9"/>
          <p:cNvSpPr/>
          <p:nvPr/>
        </p:nvSpPr>
        <p:spPr>
          <a:xfrm>
            <a:off x="5989320" y="1188720"/>
            <a:ext cx="2898648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126480" y="12801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691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/>
          <p:nvPr/>
        </p:nvSpPr>
        <p:spPr>
          <a:xfrm>
            <a:off x="6510528" y="1682496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 earner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510528" y="1947672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Health &amp; Beauty generated the highest total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0" y="24688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/>
          <p:nvPr/>
        </p:nvSpPr>
        <p:spPr>
          <a:xfrm>
            <a:off x="6510528" y="2459736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Order volume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510528" y="2724912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Bed Bath Table had the most orders — suggesting lower AOV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" name="Google Shape;23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32461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>
            <a:off x="6510528" y="3236976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Hidden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510528" y="3502152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Watches &amp; Gifts: high revenue with fewer orders = premium AOV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26480" y="40233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/>
          <p:nvPr/>
        </p:nvSpPr>
        <p:spPr>
          <a:xfrm>
            <a:off x="6510528" y="4014216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Concentration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510528" y="4279392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 3 categories account for ~40% of total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ANALYSIS 2 — SALES TRENDS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274320" y="475488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Monthly Revenue &amp; Order Trends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Strong growth trajectory with seasonal peaks visible in Nov/Dec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94460"/>
            <a:ext cx="8631900" cy="31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/>
          <p:nvPr/>
        </p:nvSpPr>
        <p:spPr>
          <a:xfrm>
            <a:off x="256032" y="4526280"/>
            <a:ext cx="2834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93192" y="457200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Nov/Dec Peaks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93192" y="47731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Holiday season drives 40-60% above monthly average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291840" y="4526280"/>
            <a:ext cx="2834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429000" y="457200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YoY Growth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429000" y="47731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Revenue nearly doubled from 2017 to 2018 year-end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309360" y="4526280"/>
            <a:ext cx="2834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446520" y="457200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Implication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446520" y="47731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Inventory &amp; marketing campaigns must be pre-planned by Sep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ANALYSIS 3 — GEOGRAPHIC DISTRIBUTION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274320" y="475488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Revenue &amp; Orders by Customer State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São Paulo dominates; significant opportunity in underserved regions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044" y="1069845"/>
            <a:ext cx="5577840" cy="374904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1"/>
          <p:cNvSpPr/>
          <p:nvPr/>
        </p:nvSpPr>
        <p:spPr>
          <a:xfrm>
            <a:off x="5989320" y="1188720"/>
            <a:ext cx="2898648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126480" y="123444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~39%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126480" y="178308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of revenue from São Paulo alone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5989320" y="2468880"/>
            <a:ext cx="2898648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126480" y="251460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Top 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126480" y="30632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states = 60%+ of total 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5989320" y="3749040"/>
            <a:ext cx="2898648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126480" y="379476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7 states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126480" y="43434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generated &lt;5% each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256032" y="4800600"/>
            <a:ext cx="8631936" cy="2560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 Implication: Geographic concentration risk — growth strategy should target RJ, MG, and underserved southern states.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ANALYSIS 4 — DATA QUALITY &amp; ANOMALIES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274320" y="475488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Canceled Order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Canceled orders = direct revenue leakage + operational signal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25880"/>
            <a:ext cx="54864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2"/>
          <p:cNvSpPr/>
          <p:nvPr/>
        </p:nvSpPr>
        <p:spPr>
          <a:xfrm>
            <a:off x="5870448" y="1325880"/>
            <a:ext cx="30175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5" name="Google Shape;29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320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/>
          <p:nvPr/>
        </p:nvSpPr>
        <p:spPr>
          <a:xfrm>
            <a:off x="6355080" y="139903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Revenue Leakage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5989320" y="1709928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cancellation in high-ticket categories represents significant lost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5870448" y="2286000"/>
            <a:ext cx="30175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9" name="Google Shape;29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320" y="23774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/>
          <p:nvPr/>
        </p:nvSpPr>
        <p:spPr>
          <a:xfrm>
            <a:off x="6355080" y="235915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Operational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5989320" y="2670048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High cancel rate suggests stockouts, delivery failures, or pricing issues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5870448" y="3246120"/>
            <a:ext cx="30175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3" name="Google Shape;30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9320" y="33375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2"/>
          <p:cNvSpPr/>
          <p:nvPr/>
        </p:nvSpPr>
        <p:spPr>
          <a:xfrm>
            <a:off x="6355080" y="331927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Action Item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989320" y="3630168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Investigate root cause per category; track cancel-to-deliver ratio monthly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256032" y="4206240"/>
            <a:ext cx="8631936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411480" y="427939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Additional anomaly: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11480" y="450799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Some orders had no matching product metadata — flagged with LEFT JOIN + IS NULL check. Products without any sales were also identified. These gaps indicate data pipeline issues that must be resolved before relying on product-level analysis.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ANALYSIS 5 — OPTIONAL: AVG ORDER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274320" y="475488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Revenue per Order by Category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Reveals premium segments — not visible from total revenue alone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007" y="1371628"/>
            <a:ext cx="5577900" cy="35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/>
          <p:nvPr/>
        </p:nvSpPr>
        <p:spPr>
          <a:xfrm>
            <a:off x="5989320" y="1234440"/>
            <a:ext cx="2898648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6126480" y="13258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6126480" y="1691640"/>
            <a:ext cx="26517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category with fewer orders can generate MORE revenue per transaction.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Computers has 4× the AOV of Housewares — a completely different customer and margin profile.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view enables: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• Targeted upsell strategies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• Smarter ad-spend allocation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• Loyalty program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• Premium tier identification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5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5 visuals built in Power BI — interactive slicers on date, state, and category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256032" y="1188720"/>
            <a:ext cx="4297680" cy="10972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256032" y="1188720"/>
            <a:ext cx="109728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457200" y="137160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Category 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457200" y="17373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Horizontal bar — top 10 by BRL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4700016" y="1188720"/>
            <a:ext cx="4297680" cy="10972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4700016" y="1188720"/>
            <a:ext cx="109728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4901184" y="137160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Monthly Trend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4901184" y="17373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Line chart — revenue &amp; orders 2017-18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256032" y="2423160"/>
            <a:ext cx="4297680" cy="10972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256032" y="2423160"/>
            <a:ext cx="109728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457200" y="260604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State Map / Bar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457200" y="297180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Geo + column chart by 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4700016" y="2423160"/>
            <a:ext cx="4297680" cy="10972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4700016" y="2423160"/>
            <a:ext cx="109728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901184" y="260604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Canceled 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901184" y="297180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Bar chart by category (anomaly)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256032" y="3657600"/>
            <a:ext cx="8631936" cy="10972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256032" y="3657600"/>
            <a:ext cx="109728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57200" y="3840480"/>
            <a:ext cx="8357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Avg Order Value 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57200" y="4206240"/>
            <a:ext cx="8357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Bonus — premium segment 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BUSINESS RECOMMENDATIONS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274320" y="475488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Actionable Recommendations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Evidence-based actions derived directly from the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256032" y="1325880"/>
            <a:ext cx="8631936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256032" y="1325880"/>
            <a:ext cx="457200" cy="6400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256032" y="132588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822960" y="138988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Double down on Health &amp; Beauty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822960" y="166420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Highest revenue category — increase marketing budget, negotiate better supplier terms, expand SKU range.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256032" y="2039112"/>
            <a:ext cx="8631936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256032" y="2039112"/>
            <a:ext cx="457200" cy="6400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256032" y="2039112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822960" y="210312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 the cancellation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822960" y="237744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Investigate top 5 categories for cancel root causes (OOS, logistics, payment). Target &lt; 2% cancel rate.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256032" y="2752344"/>
            <a:ext cx="8631936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256032" y="2752344"/>
            <a:ext cx="457200" cy="6400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256032" y="2752344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822960" y="281635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Launch regional growth campaigns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822960" y="30906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RJ and MG are under-penetrated vs SP. City-level campaigns can expand the customer base significantly.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256032" y="3465576"/>
            <a:ext cx="8631936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256032" y="3465576"/>
            <a:ext cx="457200" cy="6400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256032" y="3465576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822960" y="352958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premium category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822960" y="380390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Watches &amp; Computers have 3-4× avg order value. Bundle offers, loyalty perks, and upsell paths will amplify ROI.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256032" y="4178808"/>
            <a:ext cx="8631936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256032" y="4178808"/>
            <a:ext cx="457200" cy="6400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256032" y="4178808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822960" y="424281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Pre-plan for seasonal peaks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822960" y="4517136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Nov/Dec spikes demand 6-week lead in inventory &amp; staffing. Build an alert dashboard that fires at 70% stock.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274320" y="164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274320" y="475488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 + SQL + Power BI: raw data → business decisions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256032" y="1325880"/>
            <a:ext cx="278892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256032" y="1325880"/>
            <a:ext cx="278892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5" name="Google Shape;3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" y="18013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6"/>
          <p:cNvSpPr/>
          <p:nvPr/>
        </p:nvSpPr>
        <p:spPr>
          <a:xfrm>
            <a:off x="256032" y="1325880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850392" y="178308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CSV files merged into one analysis-ready dataset using Python/Pandas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3227832" y="1325880"/>
            <a:ext cx="278892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3227832" y="1325880"/>
            <a:ext cx="278892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0" name="Google Shape;40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4992" y="18013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6"/>
          <p:cNvSpPr/>
          <p:nvPr/>
        </p:nvSpPr>
        <p:spPr>
          <a:xfrm>
            <a:off x="3227832" y="1325880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3822192" y="178308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targeted queries answered category, trend, geo, and anomaly 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6199632" y="1325880"/>
            <a:ext cx="278892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6199632" y="1325880"/>
            <a:ext cx="278892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5" name="Google Shape;40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6792" y="18013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6"/>
          <p:cNvSpPr/>
          <p:nvPr/>
        </p:nvSpPr>
        <p:spPr>
          <a:xfrm>
            <a:off x="6199632" y="1325880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Built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793992" y="178308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Power BI visuals designed for business storytelling and decision-making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256032" y="3063240"/>
            <a:ext cx="429768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256032" y="3063240"/>
            <a:ext cx="429768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0" name="Google Shape;41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192" y="35387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6"/>
          <p:cNvSpPr/>
          <p:nvPr/>
        </p:nvSpPr>
        <p:spPr>
          <a:xfrm>
            <a:off x="256032" y="306324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Insights 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850392" y="3520440"/>
            <a:ext cx="3611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Revenue concentration, seasonal peaks, geo gaps, and cancel leakage identified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4572000" y="3063240"/>
            <a:ext cx="429768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4572000" y="3063240"/>
            <a:ext cx="429768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5" name="Google Shape;41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9160" y="35387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6"/>
          <p:cNvSpPr/>
          <p:nvPr/>
        </p:nvSpPr>
        <p:spPr>
          <a:xfrm>
            <a:off x="4572000" y="306324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5166360" y="3520440"/>
            <a:ext cx="3611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actionable strategies with clear evidence and business rationale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4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3200400" y="2011680"/>
            <a:ext cx="27432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Karun Krishnan   |   GitHub: github.com/karunkrishnan2002/BI-Ecommerce-Sales-Analysis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457200" y="2926080"/>
            <a:ext cx="2651760" cy="640080"/>
          </a:xfrm>
          <a:prstGeom prst="rect">
            <a:avLst/>
          </a:prstGeom>
          <a:solidFill>
            <a:srgbClr val="1A2E45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457200" y="292608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Walk me through your 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3383280" y="2926080"/>
            <a:ext cx="2651760" cy="640080"/>
          </a:xfrm>
          <a:prstGeom prst="rect">
            <a:avLst/>
          </a:prstGeom>
          <a:solidFill>
            <a:srgbClr val="1A2E45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3383280" y="292608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How did you handle missing data?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6309360" y="2926080"/>
            <a:ext cx="2651760" cy="640080"/>
          </a:xfrm>
          <a:prstGeom prst="rect">
            <a:avLst/>
          </a:prstGeom>
          <a:solidFill>
            <a:srgbClr val="1A2E45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6309360" y="292608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Why this anomaly analysis?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Ready to walk through any part of the analysis in detail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