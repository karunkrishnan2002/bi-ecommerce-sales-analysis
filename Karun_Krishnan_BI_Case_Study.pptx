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1" name="Google Shape;31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2" name="Google Shape;35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" name="Google Shape;38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0" name="Google Shape;420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35.png"/><Relationship Id="rId6" Type="http://schemas.openxmlformats.org/officeDocument/2006/relationships/image" Target="../media/image8.png"/><Relationship Id="rId7" Type="http://schemas.openxmlformats.org/officeDocument/2006/relationships/image" Target="../media/image4.png"/><Relationship Id="rId8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2.png"/><Relationship Id="rId6" Type="http://schemas.openxmlformats.org/officeDocument/2006/relationships/image" Target="../media/image34.png"/><Relationship Id="rId7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5.png"/><Relationship Id="rId4" Type="http://schemas.openxmlformats.org/officeDocument/2006/relationships/image" Target="../media/image4.png"/><Relationship Id="rId5" Type="http://schemas.openxmlformats.org/officeDocument/2006/relationships/image" Target="../media/image3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image" Target="../media/image27.png"/><Relationship Id="rId5" Type="http://schemas.openxmlformats.org/officeDocument/2006/relationships/image" Target="../media/image31.png"/><Relationship Id="rId6" Type="http://schemas.openxmlformats.org/officeDocument/2006/relationships/image" Target="../media/image34.png"/><Relationship Id="rId7" Type="http://schemas.openxmlformats.org/officeDocument/2006/relationships/image" Target="../media/image3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5029200" y="-182880"/>
            <a:ext cx="45720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2E45"/>
              </a:buClr>
              <a:buSzPts val="20000"/>
              <a:buFont typeface="Calibri"/>
              <a:buNone/>
            </a:pPr>
            <a:r>
              <a:rPr b="1" i="0" lang="en-US" sz="20000" u="none" cap="none" strike="noStrike">
                <a:solidFill>
                  <a:srgbClr val="1A2E45"/>
                </a:solidFill>
                <a:latin typeface="Calibri"/>
                <a:ea typeface="Calibri"/>
                <a:cs typeface="Calibri"/>
                <a:sym typeface="Calibri"/>
              </a:rPr>
              <a:t>BI</a:t>
            </a:r>
            <a:endParaRPr b="0" i="0" sz="20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457200" y="1874520"/>
            <a:ext cx="2560320" cy="5486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457200" y="640080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Business Intelligence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57200" y="1097280"/>
            <a:ext cx="6400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alibri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Case Study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457200" y="205740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E-Commerce Sales Analysis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457200" y="2834640"/>
            <a:ext cx="1920240" cy="384048"/>
          </a:xfrm>
          <a:prstGeom prst="rect">
            <a:avLst/>
          </a:prstGeom>
          <a:solidFill>
            <a:srgbClr val="1A2E45"/>
          </a:solidFill>
          <a:ln cap="flat" cmpd="sng" w="9525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457200" y="283464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Python  •  Pandas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2560320" y="2834640"/>
            <a:ext cx="1920240" cy="384048"/>
          </a:xfrm>
          <a:prstGeom prst="rect">
            <a:avLst/>
          </a:prstGeom>
          <a:solidFill>
            <a:srgbClr val="1A2E45"/>
          </a:solidFill>
          <a:ln cap="flat" cmpd="sng" w="9525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2560320" y="283464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MySQL  •  SQL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4663440" y="2834640"/>
            <a:ext cx="1920240" cy="384048"/>
          </a:xfrm>
          <a:prstGeom prst="rect">
            <a:avLst/>
          </a:prstGeom>
          <a:solidFill>
            <a:srgbClr val="1A2E45"/>
          </a:solidFill>
          <a:ln cap="flat" cmpd="sng" w="9525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4663440" y="283464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Power BI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2E4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274320" y="4663440"/>
            <a:ext cx="859536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Prepared by  Karun K</a:t>
            </a:r>
            <a:r>
              <a:rPr lang="en-US" sz="10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rishnan</a:t>
            </a: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 |   Student Support – Business Intelligence Team Interview   |   Olist Brazilian E-Commerce Dataset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274320" y="1645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OVERVIEW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274320" y="475488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274320" y="10972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 structured walkthrough of the complete BI workflow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274320" y="1417320"/>
            <a:ext cx="2788920" cy="1371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274320" y="1417320"/>
            <a:ext cx="2788920" cy="32004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274320" y="1417320"/>
            <a:ext cx="2788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384048" y="1801368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Business Objective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384048" y="224028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What the business wanted to understand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3246120" y="1417320"/>
            <a:ext cx="2788920" cy="1371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3246120" y="1417320"/>
            <a:ext cx="2788920" cy="32004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3246120" y="1417320"/>
            <a:ext cx="2788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3355848" y="1801368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Dataset &amp; Data Cleaning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3355848" y="224028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Python-based preparation of 5 CSV files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6217920" y="1417320"/>
            <a:ext cx="2788920" cy="1371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6217920" y="1417320"/>
            <a:ext cx="2788920" cy="32004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6217920" y="1417320"/>
            <a:ext cx="2788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6327648" y="1801368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SQL Analysis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6327648" y="224028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Four targeted business questions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274320" y="2971800"/>
            <a:ext cx="2788920" cy="1371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274320" y="2971800"/>
            <a:ext cx="2788920" cy="32004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4"/>
          <p:cNvSpPr/>
          <p:nvPr/>
        </p:nvSpPr>
        <p:spPr>
          <a:xfrm>
            <a:off x="274320" y="2971800"/>
            <a:ext cx="2788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384048" y="3355848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Power BI Dashboard Insights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384048" y="379476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 visuals: required + optional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3246120" y="2971800"/>
            <a:ext cx="2788920" cy="1371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4"/>
          <p:cNvSpPr/>
          <p:nvPr/>
        </p:nvSpPr>
        <p:spPr>
          <a:xfrm>
            <a:off x="3246120" y="2971800"/>
            <a:ext cx="2788920" cy="32004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3246120" y="2971800"/>
            <a:ext cx="2788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3355848" y="3355848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3355848" y="379476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Actionable business outcomes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6217920" y="2971800"/>
            <a:ext cx="2788920" cy="1371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4"/>
          <p:cNvSpPr/>
          <p:nvPr/>
        </p:nvSpPr>
        <p:spPr>
          <a:xfrm>
            <a:off x="6217920" y="2971800"/>
            <a:ext cx="2788920" cy="320040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4"/>
          <p:cNvSpPr/>
          <p:nvPr/>
        </p:nvSpPr>
        <p:spPr>
          <a:xfrm>
            <a:off x="6217920" y="2971800"/>
            <a:ext cx="2788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6327648" y="3355848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Conclusion &amp; Q&amp;A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5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274320" y="1645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BUSINESS OBJECTIVE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274320" y="475488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What Does Management Want to Know?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274320" y="10972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E-commerce company needs clarity on sales, customers, and growth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274320" y="1371600"/>
            <a:ext cx="27889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8" name="Google Shape;7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60020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5"/>
          <p:cNvSpPr/>
          <p:nvPr/>
        </p:nvSpPr>
        <p:spPr>
          <a:xfrm>
            <a:off x="914400" y="160020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Sales Performance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457200" y="2084832"/>
            <a:ext cx="24688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Where is revenue being generated?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3246120" y="1371600"/>
            <a:ext cx="27889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2" name="Google Shape;8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29000" y="160020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5"/>
          <p:cNvSpPr/>
          <p:nvPr/>
        </p:nvSpPr>
        <p:spPr>
          <a:xfrm>
            <a:off x="3886200" y="160020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Customer Behaviour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3429000" y="2084832"/>
            <a:ext cx="24688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How and when do customers buy?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6217920" y="1371600"/>
            <a:ext cx="27889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6" name="Google Shape;86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00800" y="160020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5"/>
          <p:cNvSpPr/>
          <p:nvPr/>
        </p:nvSpPr>
        <p:spPr>
          <a:xfrm>
            <a:off x="6858000" y="160020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Seasonal Trends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6400800" y="2084832"/>
            <a:ext cx="24688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When do demand spikes occur?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274320" y="3017520"/>
            <a:ext cx="27889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0" name="Google Shape;90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7200" y="324612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5"/>
          <p:cNvSpPr/>
          <p:nvPr/>
        </p:nvSpPr>
        <p:spPr>
          <a:xfrm>
            <a:off x="914400" y="324612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Regional Performance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457200" y="3730752"/>
            <a:ext cx="24688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Which geographies lead in sales?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3246120" y="3017520"/>
            <a:ext cx="27889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4" name="Google Shape;94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29000" y="324612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5"/>
          <p:cNvSpPr/>
          <p:nvPr/>
        </p:nvSpPr>
        <p:spPr>
          <a:xfrm>
            <a:off x="3886200" y="324612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Operational Anomalies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3429000" y="3730752"/>
            <a:ext cx="24688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What is causing revenue leakage?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6217920" y="3017520"/>
            <a:ext cx="27889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8" name="Google Shape;98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00800" y="324612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5"/>
          <p:cNvSpPr/>
          <p:nvPr/>
        </p:nvSpPr>
        <p:spPr>
          <a:xfrm>
            <a:off x="6858000" y="324612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Top Categories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6400800" y="3730752"/>
            <a:ext cx="24688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Which products drive the most value?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6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"/>
          <p:cNvSpPr/>
          <p:nvPr/>
        </p:nvSpPr>
        <p:spPr>
          <a:xfrm>
            <a:off x="274320" y="1645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DATA FOUNDATION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274320" y="475488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Dataset Overview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274320" y="10972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Olist Brazilian E-Commerce — 5 interconnected CSV files from Kaggle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256032" y="1371600"/>
            <a:ext cx="493776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365760" y="1463040"/>
            <a:ext cx="46634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Source Files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365760" y="1920240"/>
            <a:ext cx="4663440" cy="438912"/>
          </a:xfrm>
          <a:prstGeom prst="rect">
            <a:avLst/>
          </a:prstGeom>
          <a:solidFill>
            <a:srgbClr val="F1F5F9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502920" y="1920240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olist_customers_dataset.csv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3520440" y="1920240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Customer records &amp; location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365760" y="2468880"/>
            <a:ext cx="4663440" cy="4389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502920" y="2468880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olist_orders_dataset.csv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3520440" y="2468880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Order status &amp; timestamps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365760" y="3017520"/>
            <a:ext cx="4663440" cy="438912"/>
          </a:xfrm>
          <a:prstGeom prst="rect">
            <a:avLst/>
          </a:prstGeom>
          <a:solidFill>
            <a:srgbClr val="F1F5F9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"/>
          <p:cNvSpPr/>
          <p:nvPr/>
        </p:nvSpPr>
        <p:spPr>
          <a:xfrm>
            <a:off x="502920" y="3017520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olist_order_items_dataset.csv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3520440" y="3017520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Line items — price &amp; freight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365760" y="3566160"/>
            <a:ext cx="4663440" cy="4389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6"/>
          <p:cNvSpPr/>
          <p:nvPr/>
        </p:nvSpPr>
        <p:spPr>
          <a:xfrm>
            <a:off x="502920" y="3566160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olist_products_dataset.csv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3520440" y="3566160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Product catalog &amp; categories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365760" y="4114800"/>
            <a:ext cx="4663440" cy="438912"/>
          </a:xfrm>
          <a:prstGeom prst="rect">
            <a:avLst/>
          </a:prstGeom>
          <a:solidFill>
            <a:srgbClr val="F1F5F9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502920" y="4114800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product_category_name_translation.csv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3520440" y="4114800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EN translation of PT categories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5669280" y="1463040"/>
            <a:ext cx="1691640" cy="47548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"/>
          <p:cNvSpPr/>
          <p:nvPr/>
        </p:nvSpPr>
        <p:spPr>
          <a:xfrm>
            <a:off x="5669280" y="1463040"/>
            <a:ext cx="16916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Customers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5669280" y="2423160"/>
            <a:ext cx="1691640" cy="475488"/>
          </a:xfrm>
          <a:prstGeom prst="rect">
            <a:avLst/>
          </a:prstGeom>
          <a:solidFill>
            <a:srgbClr val="1A2E4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5669280" y="2423160"/>
            <a:ext cx="16916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Orders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5669280" y="3337560"/>
            <a:ext cx="1691640" cy="475488"/>
          </a:xfrm>
          <a:prstGeom prst="rect">
            <a:avLst/>
          </a:prstGeom>
          <a:solidFill>
            <a:srgbClr val="1A2E4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"/>
          <p:cNvSpPr/>
          <p:nvPr/>
        </p:nvSpPr>
        <p:spPr>
          <a:xfrm>
            <a:off x="5669280" y="3337560"/>
            <a:ext cx="16916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Order Items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7680960" y="2423160"/>
            <a:ext cx="1691640" cy="475488"/>
          </a:xfrm>
          <a:prstGeom prst="rect">
            <a:avLst/>
          </a:prstGeom>
          <a:solidFill>
            <a:srgbClr val="1A2E4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7680960" y="2423160"/>
            <a:ext cx="16916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Products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5" name="Google Shape;135;p6"/>
          <p:cNvCxnSpPr/>
          <p:nvPr/>
        </p:nvCxnSpPr>
        <p:spPr>
          <a:xfrm>
            <a:off x="6515100" y="1938528"/>
            <a:ext cx="0" cy="484632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6" name="Google Shape;136;p6"/>
          <p:cNvCxnSpPr/>
          <p:nvPr/>
        </p:nvCxnSpPr>
        <p:spPr>
          <a:xfrm>
            <a:off x="6515100" y="2898648"/>
            <a:ext cx="0" cy="438912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7" name="Google Shape;137;p6"/>
          <p:cNvCxnSpPr/>
          <p:nvPr/>
        </p:nvCxnSpPr>
        <p:spPr>
          <a:xfrm>
            <a:off x="7360920" y="2660904"/>
            <a:ext cx="320040" cy="0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38" name="Google Shape;138;p6"/>
          <p:cNvSpPr/>
          <p:nvPr/>
        </p:nvSpPr>
        <p:spPr>
          <a:xfrm>
            <a:off x="5532120" y="4069080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Key Join Columns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5532120" y="4370832"/>
            <a:ext cx="1600200" cy="274320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6"/>
          <p:cNvSpPr/>
          <p:nvPr/>
        </p:nvSpPr>
        <p:spPr>
          <a:xfrm>
            <a:off x="5532120" y="4370832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customer_id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7223760" y="4370832"/>
            <a:ext cx="1600200" cy="274320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6"/>
          <p:cNvSpPr/>
          <p:nvPr/>
        </p:nvSpPr>
        <p:spPr>
          <a:xfrm>
            <a:off x="7223760" y="4370832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order_id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5532120" y="4718304"/>
            <a:ext cx="1600200" cy="274320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5532120" y="4718304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product_id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7223760" y="4718304"/>
            <a:ext cx="1600200" cy="274320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7223760" y="4718304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category_name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7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274320" y="1645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DATA CLEANING &amp; PREPARATION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274320" y="475488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Python-Based Data Cleaning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274320" y="10972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Every decision documented; analysis-ready dataset exported for SQL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256032" y="1371600"/>
            <a:ext cx="4114800" cy="3566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7" name="Google Shape;15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4630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7"/>
          <p:cNvSpPr/>
          <p:nvPr/>
        </p:nvSpPr>
        <p:spPr>
          <a:xfrm>
            <a:off x="822960" y="146304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Data Quality Issues Found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9" name="Google Shape;15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93852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7"/>
          <p:cNvSpPr/>
          <p:nvPr/>
        </p:nvSpPr>
        <p:spPr>
          <a:xfrm>
            <a:off x="731520" y="192024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Missing delivery timestamps in orders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1" name="Google Shape;16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244144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7"/>
          <p:cNvSpPr/>
          <p:nvPr/>
        </p:nvSpPr>
        <p:spPr>
          <a:xfrm>
            <a:off x="731520" y="242316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Missing product weight / dimensions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3" name="Google Shape;16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294436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7"/>
          <p:cNvSpPr/>
          <p:nvPr/>
        </p:nvSpPr>
        <p:spPr>
          <a:xfrm>
            <a:off x="731520" y="292608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Unmatched category name translations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5" name="Google Shape;16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344728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7"/>
          <p:cNvSpPr/>
          <p:nvPr/>
        </p:nvSpPr>
        <p:spPr>
          <a:xfrm>
            <a:off x="731520" y="342900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Duplicate merge columns after join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7" name="Google Shape;16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395020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7"/>
          <p:cNvSpPr/>
          <p:nvPr/>
        </p:nvSpPr>
        <p:spPr>
          <a:xfrm>
            <a:off x="731520" y="393192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Inconsistent date formats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4572000" y="1371600"/>
            <a:ext cx="4297680" cy="3566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0" name="Google Shape;17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09160" y="14630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7"/>
          <p:cNvSpPr/>
          <p:nvPr/>
        </p:nvSpPr>
        <p:spPr>
          <a:xfrm>
            <a:off x="5120640" y="14630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Cleaning Steps Performed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2" name="Google Shape;17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09160" y="193852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7"/>
          <p:cNvSpPr/>
          <p:nvPr/>
        </p:nvSpPr>
        <p:spPr>
          <a:xfrm>
            <a:off x="5029200" y="19202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Loaded all 5 CSVs; profiled shape, nulls, types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4" name="Google Shape;174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09160" y="2414016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7"/>
          <p:cNvSpPr/>
          <p:nvPr/>
        </p:nvSpPr>
        <p:spPr>
          <a:xfrm>
            <a:off x="5029200" y="239572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Converted datetime columns with pd.to_datetime()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6" name="Google Shape;176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09160" y="2889504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7"/>
          <p:cNvSpPr/>
          <p:nvPr/>
        </p:nvSpPr>
        <p:spPr>
          <a:xfrm>
            <a:off x="5029200" y="2871216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Filled / dropped missing values — per column logic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8" name="Google Shape;178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09160" y="3364992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7"/>
          <p:cNvSpPr/>
          <p:nvPr/>
        </p:nvSpPr>
        <p:spPr>
          <a:xfrm>
            <a:off x="5029200" y="3346704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Merged tables on customer_id, order_id, product_id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0" name="Google Shape;180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09160" y="384048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7"/>
          <p:cNvSpPr/>
          <p:nvPr/>
        </p:nvSpPr>
        <p:spPr>
          <a:xfrm>
            <a:off x="5029200" y="382219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Dropped duplicate columns from merge artifacts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2" name="Google Shape;18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09160" y="431596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7"/>
          <p:cNvSpPr/>
          <p:nvPr/>
        </p:nvSpPr>
        <p:spPr>
          <a:xfrm>
            <a:off x="5029200" y="42976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Exported clean CSV for MySQL import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256032" y="4800600"/>
            <a:ext cx="8631936" cy="256032"/>
          </a:xfrm>
          <a:prstGeom prst="rect">
            <a:avLst/>
          </a:prstGeom>
          <a:solidFill>
            <a:srgbClr val="F1F5F9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365760" y="480060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Output: analysis_ready_dataset.csv  →  imported into MySQL for SQL analysis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274320" y="1645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SQL ANALYSIS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274320" y="475488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Four Business Questions Answered with SQL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274320" y="10972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Aggregation, joins, grouping, filtering, conditional logic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256032" y="1371600"/>
            <a:ext cx="8631936" cy="6583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8"/>
          <p:cNvSpPr/>
          <p:nvPr/>
        </p:nvSpPr>
        <p:spPr>
          <a:xfrm>
            <a:off x="256032" y="1371600"/>
            <a:ext cx="502920" cy="65836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8"/>
          <p:cNvSpPr/>
          <p:nvPr/>
        </p:nvSpPr>
        <p:spPr>
          <a:xfrm>
            <a:off x="256032" y="1371600"/>
            <a:ext cx="5029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14400" y="142646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Revenue &amp; Volume by Category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914400" y="1719072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Top 10 categories by total revenue and order count using GROUP BY + ORDER BY DESC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256032" y="2103120"/>
            <a:ext cx="8631936" cy="6583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8"/>
          <p:cNvSpPr/>
          <p:nvPr/>
        </p:nvSpPr>
        <p:spPr>
          <a:xfrm>
            <a:off x="256032" y="2103120"/>
            <a:ext cx="502920" cy="65836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256032" y="2103120"/>
            <a:ext cx="5029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914400" y="215798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Monthly Sales Trends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914400" y="2450592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Revenue &amp; volume trend by month using DATE_FORMAT() to identify seasonal patterns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256032" y="2834640"/>
            <a:ext cx="8631936" cy="6583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8"/>
          <p:cNvSpPr/>
          <p:nvPr/>
        </p:nvSpPr>
        <p:spPr>
          <a:xfrm>
            <a:off x="256032" y="2834640"/>
            <a:ext cx="502920" cy="65836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256032" y="2834640"/>
            <a:ext cx="5029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914400" y="288950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Customer Distribution by State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914400" y="3182112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Revenue and orders per customer state with aggregation on geographic dimension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256032" y="3566160"/>
            <a:ext cx="8631936" cy="6583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256032" y="3566160"/>
            <a:ext cx="502920" cy="658368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256032" y="3566160"/>
            <a:ext cx="5029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914400" y="362102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Anomaly: Canceled Orders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914400" y="3913632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Filtered on order_status = 'canceled' — quantified revenue leakage per category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256032" y="4297680"/>
            <a:ext cx="8631936" cy="6583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8"/>
          <p:cNvSpPr/>
          <p:nvPr/>
        </p:nvSpPr>
        <p:spPr>
          <a:xfrm>
            <a:off x="256032" y="4297680"/>
            <a:ext cx="502920" cy="658368"/>
          </a:xfrm>
          <a:prstGeom prst="rect">
            <a:avLst/>
          </a:prstGeom>
          <a:solidFill>
            <a:srgbClr val="94A3B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256032" y="4297680"/>
            <a:ext cx="5029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Q5*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914400" y="435254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Avg Revenue per Order (Bonus)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914400" y="4645152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SUM(price) / COUNT(DISTINCT order_id) per category — uncovers high-value segments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274320" y="1645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ANALYSIS 1 — CATEGORY REVENUE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274320" y="475488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Top 10 Product Categories by Revenue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/>
          <p:nvPr/>
        </p:nvSpPr>
        <p:spPr>
          <a:xfrm>
            <a:off x="274320" y="10972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Health &amp; Beauty leads in revenue; Bed Bath Table leads in order volume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9" name="Google Shape;22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" y="1188720"/>
            <a:ext cx="5577840" cy="374904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9"/>
          <p:cNvSpPr/>
          <p:nvPr/>
        </p:nvSpPr>
        <p:spPr>
          <a:xfrm>
            <a:off x="5989320" y="1188720"/>
            <a:ext cx="2898648" cy="3749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126480" y="12801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KEY INSIGHTS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2" name="Google Shape;232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26480" y="16916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9"/>
          <p:cNvSpPr/>
          <p:nvPr/>
        </p:nvSpPr>
        <p:spPr>
          <a:xfrm>
            <a:off x="6510528" y="1682496"/>
            <a:ext cx="2240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Top earner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6510528" y="1947672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Health &amp; Beauty generated the highest total revenue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5" name="Google Shape;235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26480" y="24688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9"/>
          <p:cNvSpPr/>
          <p:nvPr/>
        </p:nvSpPr>
        <p:spPr>
          <a:xfrm>
            <a:off x="6510528" y="2459736"/>
            <a:ext cx="2240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Order volume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6510528" y="2724912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Bed Bath Table had the most orders — suggesting lower AOV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8" name="Google Shape;23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26480" y="324612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9"/>
          <p:cNvSpPr/>
          <p:nvPr/>
        </p:nvSpPr>
        <p:spPr>
          <a:xfrm>
            <a:off x="6510528" y="3236976"/>
            <a:ext cx="2240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Hidden value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6510528" y="3502152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Watches &amp; Gifts: high revenue with fewer orders = premium AOV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1" name="Google Shape;241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26480" y="402336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9"/>
          <p:cNvSpPr/>
          <p:nvPr/>
        </p:nvSpPr>
        <p:spPr>
          <a:xfrm>
            <a:off x="6510528" y="4014216"/>
            <a:ext cx="2240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Concentration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6510528" y="4279392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Top 3 categories account for ~40% of total revenue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0"/>
          <p:cNvSpPr/>
          <p:nvPr/>
        </p:nvSpPr>
        <p:spPr>
          <a:xfrm>
            <a:off x="274320" y="1645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ANALYSIS 2 — SALES TRENDS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274320" y="475488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Monthly Revenue &amp; Order Trends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274320" y="10972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Strong growth trajectory with seasonal peaks visible in Nov/Dec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" y="1394460"/>
            <a:ext cx="8631900" cy="31089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0"/>
          <p:cNvSpPr/>
          <p:nvPr/>
        </p:nvSpPr>
        <p:spPr>
          <a:xfrm>
            <a:off x="256032" y="4526280"/>
            <a:ext cx="2834640" cy="5303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0"/>
          <p:cNvSpPr/>
          <p:nvPr/>
        </p:nvSpPr>
        <p:spPr>
          <a:xfrm>
            <a:off x="393192" y="4572000"/>
            <a:ext cx="2560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Nov/Dec Peaks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393192" y="4773168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Holiday season drives 40-60% above monthly average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3291840" y="4526280"/>
            <a:ext cx="2834640" cy="5303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0"/>
          <p:cNvSpPr/>
          <p:nvPr/>
        </p:nvSpPr>
        <p:spPr>
          <a:xfrm>
            <a:off x="3429000" y="4572000"/>
            <a:ext cx="2560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YoY Growth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0"/>
          <p:cNvSpPr/>
          <p:nvPr/>
        </p:nvSpPr>
        <p:spPr>
          <a:xfrm>
            <a:off x="3429000" y="4773168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Revenue nearly doubled from 2017 to 2018 year-end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309360" y="4526280"/>
            <a:ext cx="2834640" cy="5303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0"/>
          <p:cNvSpPr/>
          <p:nvPr/>
        </p:nvSpPr>
        <p:spPr>
          <a:xfrm>
            <a:off x="6446520" y="4572000"/>
            <a:ext cx="2560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Implication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/>
          <p:nvPr/>
        </p:nvSpPr>
        <p:spPr>
          <a:xfrm>
            <a:off x="6446520" y="4773168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Inventory &amp; marketing campaigns must be pre-planned by Sep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1"/>
          <p:cNvSpPr/>
          <p:nvPr/>
        </p:nvSpPr>
        <p:spPr>
          <a:xfrm>
            <a:off x="274320" y="1645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ANALYSIS 3 — GEOGRAPHIC DISTRIBUTION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274320" y="475488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Revenue &amp; Orders by Customer State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274320" y="10972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São Paulo dominates; significant opportunity in underserved regions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2" name="Google Shape;27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" y="1188720"/>
            <a:ext cx="5577840" cy="374904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1"/>
          <p:cNvSpPr/>
          <p:nvPr/>
        </p:nvSpPr>
        <p:spPr>
          <a:xfrm>
            <a:off x="5989320" y="1188720"/>
            <a:ext cx="2898648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6126480" y="1234440"/>
            <a:ext cx="26517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~39%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6126480" y="1783080"/>
            <a:ext cx="2651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of revenue from São Paulo alone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5989320" y="2468880"/>
            <a:ext cx="2898648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1"/>
          <p:cNvSpPr/>
          <p:nvPr/>
        </p:nvSpPr>
        <p:spPr>
          <a:xfrm>
            <a:off x="6126480" y="2514600"/>
            <a:ext cx="26517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Top 3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6126480" y="3063240"/>
            <a:ext cx="2651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states = 60%+ of total revenue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5989320" y="3749040"/>
            <a:ext cx="2898648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1"/>
          <p:cNvSpPr/>
          <p:nvPr/>
        </p:nvSpPr>
        <p:spPr>
          <a:xfrm>
            <a:off x="6126480" y="3794760"/>
            <a:ext cx="26517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7 states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6126480" y="4343400"/>
            <a:ext cx="2651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generated &lt;5% each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256032" y="4800600"/>
            <a:ext cx="8631936" cy="256032"/>
          </a:xfrm>
          <a:prstGeom prst="rect">
            <a:avLst/>
          </a:prstGeom>
          <a:solidFill>
            <a:srgbClr val="F1F5F9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"/>
          <p:cNvSpPr/>
          <p:nvPr/>
        </p:nvSpPr>
        <p:spPr>
          <a:xfrm>
            <a:off x="365760" y="480060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Business Implication: Geographic concentration risk — growth strategy should target RJ, MG, and underserved southern states.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2"/>
          <p:cNvSpPr/>
          <p:nvPr/>
        </p:nvSpPr>
        <p:spPr>
          <a:xfrm>
            <a:off x="274320" y="1645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ANALYSIS 4 — DATA QUALITY &amp; ANOMALIES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2"/>
          <p:cNvSpPr/>
          <p:nvPr/>
        </p:nvSpPr>
        <p:spPr>
          <a:xfrm>
            <a:off x="274320" y="475488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Canceled Order Analysis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2"/>
          <p:cNvSpPr/>
          <p:nvPr/>
        </p:nvSpPr>
        <p:spPr>
          <a:xfrm>
            <a:off x="274320" y="10972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Canceled orders = direct revenue leakage + operational signal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3" name="Google Shape;29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" y="1325880"/>
            <a:ext cx="54864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12"/>
          <p:cNvSpPr/>
          <p:nvPr/>
        </p:nvSpPr>
        <p:spPr>
          <a:xfrm>
            <a:off x="5870448" y="1325880"/>
            <a:ext cx="301752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5" name="Google Shape;295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89320" y="141732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12"/>
          <p:cNvSpPr/>
          <p:nvPr/>
        </p:nvSpPr>
        <p:spPr>
          <a:xfrm>
            <a:off x="6355080" y="1399032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Revenue Leakage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2"/>
          <p:cNvSpPr/>
          <p:nvPr/>
        </p:nvSpPr>
        <p:spPr>
          <a:xfrm>
            <a:off x="5989320" y="1709928"/>
            <a:ext cx="2788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Each cancellation in high-ticket categories represents significant lost revenue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2"/>
          <p:cNvSpPr/>
          <p:nvPr/>
        </p:nvSpPr>
        <p:spPr>
          <a:xfrm>
            <a:off x="5870448" y="2286000"/>
            <a:ext cx="301752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9" name="Google Shape;29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89320" y="237744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12"/>
          <p:cNvSpPr/>
          <p:nvPr/>
        </p:nvSpPr>
        <p:spPr>
          <a:xfrm>
            <a:off x="6355080" y="2359152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Operational Risk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2"/>
          <p:cNvSpPr/>
          <p:nvPr/>
        </p:nvSpPr>
        <p:spPr>
          <a:xfrm>
            <a:off x="5989320" y="2670048"/>
            <a:ext cx="2788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High cancel rate suggests stockouts, delivery failures, or pricing issues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"/>
          <p:cNvSpPr/>
          <p:nvPr/>
        </p:nvSpPr>
        <p:spPr>
          <a:xfrm>
            <a:off x="5870448" y="3246120"/>
            <a:ext cx="3017520" cy="868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03" name="Google Shape;303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89320" y="333756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12"/>
          <p:cNvSpPr/>
          <p:nvPr/>
        </p:nvSpPr>
        <p:spPr>
          <a:xfrm>
            <a:off x="6355080" y="3319272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Action Item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5989320" y="3630168"/>
            <a:ext cx="2788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Investigate root cause per category; track cancel-to-deliver ratio monthly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256032" y="4206240"/>
            <a:ext cx="8631936" cy="777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2"/>
          <p:cNvSpPr/>
          <p:nvPr/>
        </p:nvSpPr>
        <p:spPr>
          <a:xfrm>
            <a:off x="411480" y="4279392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Additional anomaly: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411480" y="450799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Some orders had no matching product metadata — flagged with LEFT JOIN + IS NULL check. Products without any sales were also identified. These gaps indicate data pipeline issues that must be resolved before relying on product-level analysis.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3"/>
          <p:cNvSpPr/>
          <p:nvPr/>
        </p:nvSpPr>
        <p:spPr>
          <a:xfrm>
            <a:off x="274320" y="1645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ANALYSIS 5 — OPTIONAL: AVG ORDER VALUE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3"/>
          <p:cNvSpPr/>
          <p:nvPr/>
        </p:nvSpPr>
        <p:spPr>
          <a:xfrm>
            <a:off x="274320" y="475488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Average Revenue per Order by Category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274320" y="10972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Reveals premium segments — not visible from total revenue alone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8" name="Google Shape;31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8007" y="1371628"/>
            <a:ext cx="5577900" cy="356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13"/>
          <p:cNvSpPr/>
          <p:nvPr/>
        </p:nvSpPr>
        <p:spPr>
          <a:xfrm>
            <a:off x="5989320" y="1234440"/>
            <a:ext cx="2898648" cy="3566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3"/>
          <p:cNvSpPr/>
          <p:nvPr/>
        </p:nvSpPr>
        <p:spPr>
          <a:xfrm>
            <a:off x="6126480" y="13258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WHY THIS MATTERS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3"/>
          <p:cNvSpPr/>
          <p:nvPr/>
        </p:nvSpPr>
        <p:spPr>
          <a:xfrm>
            <a:off x="6126480" y="1691640"/>
            <a:ext cx="265176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 category with fewer orders can generate MORE revenue per transaction.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Computers has 4× the AOV of Housewares — a completely different customer and margin profile.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This view enables: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• Targeted upsell strategies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• Smarter ad-spend allocation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• Loyalty program design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• Premium tier identification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2E45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4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4"/>
          <p:cNvSpPr/>
          <p:nvPr/>
        </p:nvSpPr>
        <p:spPr>
          <a:xfrm>
            <a:off x="274320" y="22860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Power BI Dashboard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All 5 visuals built in Power BI — interactive slicers on date, state, and category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256032" y="1188720"/>
            <a:ext cx="4297680" cy="1097280"/>
          </a:xfrm>
          <a:prstGeom prst="rect">
            <a:avLst/>
          </a:prstGeom>
          <a:solidFill>
            <a:srgbClr val="0D1B2A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4"/>
          <p:cNvSpPr/>
          <p:nvPr/>
        </p:nvSpPr>
        <p:spPr>
          <a:xfrm>
            <a:off x="256032" y="1188720"/>
            <a:ext cx="109728" cy="109728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4"/>
          <p:cNvSpPr/>
          <p:nvPr/>
        </p:nvSpPr>
        <p:spPr>
          <a:xfrm>
            <a:off x="457200" y="1371600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Category Revenue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457200" y="173736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Horizontal bar — top 10 by BRL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4700016" y="1188720"/>
            <a:ext cx="4297680" cy="1097280"/>
          </a:xfrm>
          <a:prstGeom prst="rect">
            <a:avLst/>
          </a:prstGeom>
          <a:solidFill>
            <a:srgbClr val="0D1B2A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4"/>
          <p:cNvSpPr/>
          <p:nvPr/>
        </p:nvSpPr>
        <p:spPr>
          <a:xfrm>
            <a:off x="4700016" y="1188720"/>
            <a:ext cx="109728" cy="109728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4"/>
          <p:cNvSpPr/>
          <p:nvPr/>
        </p:nvSpPr>
        <p:spPr>
          <a:xfrm>
            <a:off x="4901184" y="1371600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Monthly Trend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4901184" y="173736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Line chart — revenue &amp; orders 2017-18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256032" y="2423160"/>
            <a:ext cx="4297680" cy="1097280"/>
          </a:xfrm>
          <a:prstGeom prst="rect">
            <a:avLst/>
          </a:prstGeom>
          <a:solidFill>
            <a:srgbClr val="0D1B2A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4"/>
          <p:cNvSpPr/>
          <p:nvPr/>
        </p:nvSpPr>
        <p:spPr>
          <a:xfrm>
            <a:off x="256032" y="2423160"/>
            <a:ext cx="109728" cy="109728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4"/>
          <p:cNvSpPr/>
          <p:nvPr/>
        </p:nvSpPr>
        <p:spPr>
          <a:xfrm>
            <a:off x="457200" y="2606040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State Map / Bar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457200" y="297180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Geo + column chart by state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4700016" y="2423160"/>
            <a:ext cx="4297680" cy="1097280"/>
          </a:xfrm>
          <a:prstGeom prst="rect">
            <a:avLst/>
          </a:prstGeom>
          <a:solidFill>
            <a:srgbClr val="0D1B2A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4"/>
          <p:cNvSpPr/>
          <p:nvPr/>
        </p:nvSpPr>
        <p:spPr>
          <a:xfrm>
            <a:off x="4700016" y="2423160"/>
            <a:ext cx="109728" cy="109728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4"/>
          <p:cNvSpPr/>
          <p:nvPr/>
        </p:nvSpPr>
        <p:spPr>
          <a:xfrm>
            <a:off x="4901184" y="2606040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 Canceled Orders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/>
          <p:nvPr/>
        </p:nvSpPr>
        <p:spPr>
          <a:xfrm>
            <a:off x="4901184" y="297180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Bar chart by category (anomaly)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4"/>
          <p:cNvSpPr/>
          <p:nvPr/>
        </p:nvSpPr>
        <p:spPr>
          <a:xfrm>
            <a:off x="256032" y="3657600"/>
            <a:ext cx="8631936" cy="1097280"/>
          </a:xfrm>
          <a:prstGeom prst="rect">
            <a:avLst/>
          </a:prstGeom>
          <a:solidFill>
            <a:srgbClr val="0D1B2A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4"/>
          <p:cNvSpPr/>
          <p:nvPr/>
        </p:nvSpPr>
        <p:spPr>
          <a:xfrm>
            <a:off x="256032" y="3657600"/>
            <a:ext cx="109728" cy="109728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4"/>
          <p:cNvSpPr/>
          <p:nvPr/>
        </p:nvSpPr>
        <p:spPr>
          <a:xfrm>
            <a:off x="457200" y="3840480"/>
            <a:ext cx="8357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5. Avg Order Value ★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4"/>
          <p:cNvSpPr/>
          <p:nvPr/>
        </p:nvSpPr>
        <p:spPr>
          <a:xfrm>
            <a:off x="457200" y="4206240"/>
            <a:ext cx="835761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Bonus — premium segment view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5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5"/>
          <p:cNvSpPr/>
          <p:nvPr/>
        </p:nvSpPr>
        <p:spPr>
          <a:xfrm>
            <a:off x="274320" y="1645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BUSINESS RECOMMENDATIONS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274320" y="475488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Actionable Recommendations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274320" y="10972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Evidence-based actions derived directly from the analysis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256032" y="1325880"/>
            <a:ext cx="8631936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5"/>
          <p:cNvSpPr/>
          <p:nvPr/>
        </p:nvSpPr>
        <p:spPr>
          <a:xfrm>
            <a:off x="256032" y="1325880"/>
            <a:ext cx="457200" cy="64008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5"/>
          <p:cNvSpPr/>
          <p:nvPr/>
        </p:nvSpPr>
        <p:spPr>
          <a:xfrm>
            <a:off x="256032" y="1325880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822960" y="1389888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Double down on Health &amp; Beauty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822960" y="1664208"/>
            <a:ext cx="7863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Highest revenue category — increase marketing budget, negotiate better supplier terms, expand SKU range.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256032" y="2039112"/>
            <a:ext cx="8631936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5"/>
          <p:cNvSpPr/>
          <p:nvPr/>
        </p:nvSpPr>
        <p:spPr>
          <a:xfrm>
            <a:off x="256032" y="2039112"/>
            <a:ext cx="457200" cy="640080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5"/>
          <p:cNvSpPr/>
          <p:nvPr/>
        </p:nvSpPr>
        <p:spPr>
          <a:xfrm>
            <a:off x="256032" y="2039112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822960" y="2103120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Fix the cancellation pipeline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822960" y="2377440"/>
            <a:ext cx="7863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Investigate top 5 categories for cancel root causes (OOS, logistics, payment). Target &lt; 2% cancel rate.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256032" y="2752344"/>
            <a:ext cx="8631936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5"/>
          <p:cNvSpPr/>
          <p:nvPr/>
        </p:nvSpPr>
        <p:spPr>
          <a:xfrm>
            <a:off x="256032" y="2752344"/>
            <a:ext cx="457200" cy="64008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5"/>
          <p:cNvSpPr/>
          <p:nvPr/>
        </p:nvSpPr>
        <p:spPr>
          <a:xfrm>
            <a:off x="256032" y="2752344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822960" y="2816352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Launch regional growth campaigns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822960" y="3090672"/>
            <a:ext cx="7863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RJ and MG are under-penetrated vs SP. City-level campaigns can expand the customer base significantly.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256032" y="3465576"/>
            <a:ext cx="8631936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5"/>
          <p:cNvSpPr/>
          <p:nvPr/>
        </p:nvSpPr>
        <p:spPr>
          <a:xfrm>
            <a:off x="256032" y="3465576"/>
            <a:ext cx="457200" cy="64008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5"/>
          <p:cNvSpPr/>
          <p:nvPr/>
        </p:nvSpPr>
        <p:spPr>
          <a:xfrm>
            <a:off x="256032" y="3465576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822960" y="3529584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Build premium category strategy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822960" y="3803904"/>
            <a:ext cx="7863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Watches &amp; Computers have 3-4× avg order value. Bundle offers, loyalty perks, and upsell paths will amplify ROI.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256032" y="4178808"/>
            <a:ext cx="8631936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5"/>
          <p:cNvSpPr/>
          <p:nvPr/>
        </p:nvSpPr>
        <p:spPr>
          <a:xfrm>
            <a:off x="256032" y="4178808"/>
            <a:ext cx="457200" cy="640080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5"/>
          <p:cNvSpPr/>
          <p:nvPr/>
        </p:nvSpPr>
        <p:spPr>
          <a:xfrm>
            <a:off x="256032" y="4178808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822960" y="4242816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Pre-plan for seasonal peaks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822960" y="4517136"/>
            <a:ext cx="7863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Nov/Dec spikes demand 6-week lead in inventory &amp; staffing. Build an alert dashboard that fires at 70% stock.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6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6"/>
          <p:cNvSpPr/>
          <p:nvPr/>
        </p:nvSpPr>
        <p:spPr>
          <a:xfrm>
            <a:off x="274320" y="1645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6"/>
          <p:cNvSpPr/>
          <p:nvPr/>
        </p:nvSpPr>
        <p:spPr>
          <a:xfrm>
            <a:off x="274320" y="475488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Summary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6"/>
          <p:cNvSpPr/>
          <p:nvPr/>
        </p:nvSpPr>
        <p:spPr>
          <a:xfrm>
            <a:off x="274320" y="10972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Python + SQL + Power BI: raw data → business decisions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6"/>
          <p:cNvSpPr/>
          <p:nvPr/>
        </p:nvSpPr>
        <p:spPr>
          <a:xfrm>
            <a:off x="256032" y="1325880"/>
            <a:ext cx="2788920" cy="1554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6"/>
          <p:cNvSpPr/>
          <p:nvPr/>
        </p:nvSpPr>
        <p:spPr>
          <a:xfrm>
            <a:off x="256032" y="1325880"/>
            <a:ext cx="2788920" cy="347472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95" name="Google Shape;39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3192" y="1801368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16"/>
          <p:cNvSpPr/>
          <p:nvPr/>
        </p:nvSpPr>
        <p:spPr>
          <a:xfrm>
            <a:off x="256032" y="1325880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Cleaned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6"/>
          <p:cNvSpPr/>
          <p:nvPr/>
        </p:nvSpPr>
        <p:spPr>
          <a:xfrm>
            <a:off x="850392" y="1783080"/>
            <a:ext cx="2103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 CSV files merged into one analysis-ready dataset using Python/Pandas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6"/>
          <p:cNvSpPr/>
          <p:nvPr/>
        </p:nvSpPr>
        <p:spPr>
          <a:xfrm>
            <a:off x="3227832" y="1325880"/>
            <a:ext cx="2788920" cy="1554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6"/>
          <p:cNvSpPr/>
          <p:nvPr/>
        </p:nvSpPr>
        <p:spPr>
          <a:xfrm>
            <a:off x="3227832" y="1325880"/>
            <a:ext cx="2788920" cy="347472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00" name="Google Shape;400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64992" y="1801368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16"/>
          <p:cNvSpPr/>
          <p:nvPr/>
        </p:nvSpPr>
        <p:spPr>
          <a:xfrm>
            <a:off x="3227832" y="1325880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SQL Analysis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6"/>
          <p:cNvSpPr/>
          <p:nvPr/>
        </p:nvSpPr>
        <p:spPr>
          <a:xfrm>
            <a:off x="3822192" y="1783080"/>
            <a:ext cx="2103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4 targeted queries answered category, trend, geo, and anomaly questions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6"/>
          <p:cNvSpPr/>
          <p:nvPr/>
        </p:nvSpPr>
        <p:spPr>
          <a:xfrm>
            <a:off x="6199632" y="1325880"/>
            <a:ext cx="2788920" cy="1554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6"/>
          <p:cNvSpPr/>
          <p:nvPr/>
        </p:nvSpPr>
        <p:spPr>
          <a:xfrm>
            <a:off x="6199632" y="1325880"/>
            <a:ext cx="2788920" cy="347472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05" name="Google Shape;40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6792" y="1801368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6"/>
          <p:cNvSpPr/>
          <p:nvPr/>
        </p:nvSpPr>
        <p:spPr>
          <a:xfrm>
            <a:off x="6199632" y="1325880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Dashboard Built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6"/>
          <p:cNvSpPr/>
          <p:nvPr/>
        </p:nvSpPr>
        <p:spPr>
          <a:xfrm>
            <a:off x="6793992" y="1783080"/>
            <a:ext cx="2103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 Power BI visuals designed for business storytelling and decision-making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6"/>
          <p:cNvSpPr/>
          <p:nvPr/>
        </p:nvSpPr>
        <p:spPr>
          <a:xfrm>
            <a:off x="256032" y="3063240"/>
            <a:ext cx="4297680" cy="1554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6"/>
          <p:cNvSpPr/>
          <p:nvPr/>
        </p:nvSpPr>
        <p:spPr>
          <a:xfrm>
            <a:off x="256032" y="3063240"/>
            <a:ext cx="4297680" cy="347472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0" name="Google Shape;410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3192" y="3538728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16"/>
          <p:cNvSpPr/>
          <p:nvPr/>
        </p:nvSpPr>
        <p:spPr>
          <a:xfrm>
            <a:off x="256032" y="3063240"/>
            <a:ext cx="4297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Insights Found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6"/>
          <p:cNvSpPr/>
          <p:nvPr/>
        </p:nvSpPr>
        <p:spPr>
          <a:xfrm>
            <a:off x="850392" y="3520440"/>
            <a:ext cx="3611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Revenue concentration, seasonal peaks, geo gaps, and cancel leakage identified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6"/>
          <p:cNvSpPr/>
          <p:nvPr/>
        </p:nvSpPr>
        <p:spPr>
          <a:xfrm>
            <a:off x="4572000" y="3063240"/>
            <a:ext cx="4297680" cy="1554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6"/>
          <p:cNvSpPr/>
          <p:nvPr/>
        </p:nvSpPr>
        <p:spPr>
          <a:xfrm>
            <a:off x="4572000" y="3063240"/>
            <a:ext cx="4297680" cy="347472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5" name="Google Shape;415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709160" y="3538728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6"/>
          <p:cNvSpPr/>
          <p:nvPr/>
        </p:nvSpPr>
        <p:spPr>
          <a:xfrm>
            <a:off x="4572000" y="3063240"/>
            <a:ext cx="4297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6"/>
          <p:cNvSpPr/>
          <p:nvPr/>
        </p:nvSpPr>
        <p:spPr>
          <a:xfrm>
            <a:off x="5166360" y="3520440"/>
            <a:ext cx="3611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 actionable strategies with clear evidence and business rationale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7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2E45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7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Calibri"/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7"/>
          <p:cNvSpPr/>
          <p:nvPr/>
        </p:nvSpPr>
        <p:spPr>
          <a:xfrm>
            <a:off x="3200400" y="2011680"/>
            <a:ext cx="2743200" cy="5486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7"/>
          <p:cNvSpPr/>
          <p:nvPr/>
        </p:nvSpPr>
        <p:spPr>
          <a:xfrm>
            <a:off x="457200" y="219456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Questions &amp; Discussion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7"/>
          <p:cNvSpPr/>
          <p:nvPr/>
        </p:nvSpPr>
        <p:spPr>
          <a:xfrm>
            <a:off x="274320" y="4663440"/>
            <a:ext cx="859536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Karun Krishnan   |   GitHub: github.com/karunkrishnan2002/BI-Ecommerce-Sales-Analysis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7"/>
          <p:cNvSpPr/>
          <p:nvPr/>
        </p:nvSpPr>
        <p:spPr>
          <a:xfrm>
            <a:off x="457200" y="2926080"/>
            <a:ext cx="2651760" cy="640080"/>
          </a:xfrm>
          <a:prstGeom prst="rect">
            <a:avLst/>
          </a:prstGeom>
          <a:solidFill>
            <a:srgbClr val="1A2E45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7"/>
          <p:cNvSpPr/>
          <p:nvPr/>
        </p:nvSpPr>
        <p:spPr>
          <a:xfrm>
            <a:off x="457200" y="2926080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Walk me through your SQL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7"/>
          <p:cNvSpPr/>
          <p:nvPr/>
        </p:nvSpPr>
        <p:spPr>
          <a:xfrm>
            <a:off x="3383280" y="2926080"/>
            <a:ext cx="2651760" cy="640080"/>
          </a:xfrm>
          <a:prstGeom prst="rect">
            <a:avLst/>
          </a:prstGeom>
          <a:solidFill>
            <a:srgbClr val="1A2E45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7"/>
          <p:cNvSpPr/>
          <p:nvPr/>
        </p:nvSpPr>
        <p:spPr>
          <a:xfrm>
            <a:off x="3383280" y="2926080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How did you handle missing data?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7"/>
          <p:cNvSpPr/>
          <p:nvPr/>
        </p:nvSpPr>
        <p:spPr>
          <a:xfrm>
            <a:off x="6309360" y="2926080"/>
            <a:ext cx="2651760" cy="640080"/>
          </a:xfrm>
          <a:prstGeom prst="rect">
            <a:avLst/>
          </a:prstGeom>
          <a:solidFill>
            <a:srgbClr val="1A2E45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7"/>
          <p:cNvSpPr/>
          <p:nvPr/>
        </p:nvSpPr>
        <p:spPr>
          <a:xfrm>
            <a:off x="6309360" y="2926080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Why this anomaly analysis?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7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Ready to walk through any part of the analysis in detail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